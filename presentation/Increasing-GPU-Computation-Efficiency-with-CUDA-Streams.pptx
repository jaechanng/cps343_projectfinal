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Instrument Sans Medium" panose="020B0604020202020204" charset="0"/>
      <p:regular r:id="rId18"/>
    </p:embeddedFont>
    <p:embeddedFont>
      <p:font typeface="Instrument Sans Semi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79FF"/>
    <a:srgbClr val="7995E1"/>
    <a:srgbClr val="1EE2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AF56F3-E55B-43D4-BC4E-C70F2C09830E}" v="1" dt="2026-05-09T18:17:14.5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62" autoAdjust="0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324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echang Lee" userId="62693b6669ffb0cb" providerId="LiveId" clId="{B5324815-CB0E-4374-94CF-DEEFC5746540}"/>
    <pc:docChg chg="modSld">
      <pc:chgData name="Jaechang Lee" userId="62693b6669ffb0cb" providerId="LiveId" clId="{B5324815-CB0E-4374-94CF-DEEFC5746540}" dt="2026-05-09T18:17:39.946" v="5" actId="20577"/>
      <pc:docMkLst>
        <pc:docMk/>
      </pc:docMkLst>
      <pc:sldChg chg="modSp mod">
        <pc:chgData name="Jaechang Lee" userId="62693b6669ffb0cb" providerId="LiveId" clId="{B5324815-CB0E-4374-94CF-DEEFC5746540}" dt="2026-05-09T18:17:39.946" v="5" actId="20577"/>
        <pc:sldMkLst>
          <pc:docMk/>
          <pc:sldMk cId="2928268000" sldId="266"/>
        </pc:sldMkLst>
        <pc:spChg chg="mod">
          <ac:chgData name="Jaechang Lee" userId="62693b6669ffb0cb" providerId="LiveId" clId="{B5324815-CB0E-4374-94CF-DEEFC5746540}" dt="2026-05-09T18:17:39.946" v="5" actId="20577"/>
          <ac:spMkLst>
            <pc:docMk/>
            <pc:sldMk cId="2928268000" sldId="266"/>
            <ac:spMk id="14" creationId="{668D350E-1A88-08AE-0107-B77677CEBA1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5938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DEB10-997E-2E5B-4503-E6B5FDBF4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9560E-006E-96B2-F909-FF6FCE6F29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274414-3DB2-D1B5-2A9A-69B733C80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4B93E-0511-6289-29F8-D3399548B2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862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.pn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Jaechanng/CPS343_projectFinal?utm_source=chatgpt.com" TargetMode="External"/><Relationship Id="rId3" Type="http://schemas.openxmlformats.org/officeDocument/2006/relationships/hyperlink" Target="https://docs.nvidia.com/cuda/archive/13.1.0/cuda-programming-guide/02-basics/asynchronous-execution.html?utm_source=chatgpt.com" TargetMode="External"/><Relationship Id="rId7" Type="http://schemas.openxmlformats.org/officeDocument/2006/relationships/hyperlink" Target="https://developer-blogs.nvidia.com/wp-content/uploads/2021/05/nvidia-eye-1000x600-1.png?utm_source=chatgpt.com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developer-blogs.nvidia.com/wp-content/uploads/2017/01/CUDA-Blog-Image-1000x600-1.jpg?utm_source=chatgpt.com" TargetMode="External"/><Relationship Id="rId5" Type="http://schemas.openxmlformats.org/officeDocument/2006/relationships/hyperlink" Target="https://leimao.github.io/images/blog/2020-02-02-CUDA-Stream/cuda-stream.png?utm_source=chatgpt.com" TargetMode="External"/><Relationship Id="rId4" Type="http://schemas.openxmlformats.org/officeDocument/2006/relationships/hyperlink" Target="https://docs.nvidia.com/cuda/archive/12.8.0/cuda-c-programming-guide/index.html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496119" y="1267569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Increasing GPU Computation Efficiency with CUDA Streams</a:t>
            </a:r>
            <a:endParaRPr lang="en-US" sz="2750" dirty="0"/>
          </a:p>
        </p:txBody>
      </p:sp>
      <p:sp>
        <p:nvSpPr>
          <p:cNvPr id="6" name="Text 2"/>
          <p:cNvSpPr/>
          <p:nvPr/>
        </p:nvSpPr>
        <p:spPr>
          <a:xfrm>
            <a:off x="496119" y="280913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Research question:</a:t>
            </a: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Can overlapping memory transfer and kernel computation reduce total GPU runtime?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96119" y="3422228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Core takeaway:</a:t>
            </a: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CUDA streams can improve throughput by reducing idle time through overlap.</a:t>
            </a:r>
            <a:endParaRPr lang="en-US" sz="11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A2071CB-2793-15DF-8B10-1B55D30CC0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1" r="10399"/>
          <a:stretch>
            <a:fillRect/>
          </a:stretch>
        </p:blipFill>
        <p:spPr bwMode="auto">
          <a:xfrm>
            <a:off x="5596679" y="0"/>
            <a:ext cx="3547321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E882503-B977-3176-BF4B-02C24E65F13F}"/>
              </a:ext>
            </a:extLst>
          </p:cNvPr>
          <p:cNvSpPr txBox="1"/>
          <p:nvPr/>
        </p:nvSpPr>
        <p:spPr>
          <a:xfrm>
            <a:off x="8143283" y="4924421"/>
            <a:ext cx="94288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</a:rPr>
              <a:t>NVIDIA Developer Blog, 2021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30560"/>
            <a:ext cx="348875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Roadmap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8379" y="1141363"/>
            <a:ext cx="279053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anose="020B060402020202020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050" dirty="0">
              <a:latin typeface="Instrument Sans Medium" panose="020B060402020202020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79" y="1359471"/>
            <a:ext cx="2630835" cy="19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8379" y="1467296"/>
            <a:ext cx="2630835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Why normal GPU workflow wastes time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88379" y="1985739"/>
            <a:ext cx="263083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Understanding serialized execution bottlenecks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256583" y="1141363"/>
            <a:ext cx="279053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anose="020B060402020202020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050" dirty="0">
              <a:latin typeface="Instrument Sans Medium" panose="020B0604020202020204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583" y="1373460"/>
            <a:ext cx="2630835" cy="190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56583" y="1467296"/>
            <a:ext cx="194302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CUDA streams do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256583" y="1767706"/>
            <a:ext cx="26308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Ordered queues enabling overlap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024786" y="1141363"/>
            <a:ext cx="279053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anose="020B060402020202020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050" dirty="0">
              <a:latin typeface="Instrument Sans Medium" panose="020B0604020202020204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786" y="1373460"/>
            <a:ext cx="2630835" cy="190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24786" y="1467296"/>
            <a:ext cx="2152204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 Bold" pitchFamily="34" charset="0"/>
              </a:rPr>
              <a:t>Implementation using </a:t>
            </a:r>
          </a:p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 Bold" pitchFamily="34" charset="0"/>
              </a:rPr>
              <a:t>add-matrices.cu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024786" y="1833961"/>
            <a:ext cx="263083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Implementation details and chunking strategy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488379" y="2670646"/>
            <a:ext cx="279053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anose="020B060402020202020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050" dirty="0">
              <a:latin typeface="Instrument Sans Medium" panose="020B0604020202020204" charset="0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79" y="2874838"/>
            <a:ext cx="2630835" cy="190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8379" y="2996580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Benchmark results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88379" y="3296989"/>
            <a:ext cx="26308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Add-matrices performance gains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3256583" y="2670646"/>
            <a:ext cx="279053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anose="020B0604020202020204" charset="0"/>
                <a:ea typeface="Instrument Sans Light" pitchFamily="34" charset="-122"/>
                <a:cs typeface="Instrument Sans Light" pitchFamily="34" charset="-120"/>
              </a:rPr>
              <a:t>05</a:t>
            </a:r>
            <a:endParaRPr lang="en-US" sz="1050" dirty="0">
              <a:latin typeface="Instrument Sans Medium" panose="020B0604020202020204" charset="0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583" y="2874838"/>
            <a:ext cx="2630835" cy="190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256583" y="2996580"/>
            <a:ext cx="232030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Profiling with Nsight Systems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3256583" y="3296989"/>
            <a:ext cx="26308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Visual proof of overlap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6024786" y="2670646"/>
            <a:ext cx="279053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anose="020B0604020202020204" charset="0"/>
                <a:ea typeface="Instrument Sans Light" pitchFamily="34" charset="-122"/>
                <a:cs typeface="Instrument Sans Light" pitchFamily="34" charset="-120"/>
              </a:rPr>
              <a:t>06</a:t>
            </a:r>
            <a:endParaRPr lang="en-US" sz="1050" dirty="0">
              <a:latin typeface="Instrument Sans Medium" panose="020B0604020202020204" charset="0"/>
            </a:endParaRPr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786" y="2874838"/>
            <a:ext cx="2630835" cy="1905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024786" y="2996580"/>
            <a:ext cx="194094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Dot-matrices extension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6024786" y="3296989"/>
            <a:ext cx="26308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Realistic workload testing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488379" y="3760440"/>
            <a:ext cx="279053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anose="020B0604020202020204" charset="0"/>
                <a:ea typeface="Instrument Sans Light" pitchFamily="34" charset="-122"/>
                <a:cs typeface="Instrument Sans Light" pitchFamily="34" charset="-120"/>
              </a:rPr>
              <a:t>07</a:t>
            </a:r>
            <a:endParaRPr lang="en-US" sz="1050" dirty="0">
              <a:latin typeface="Instrument Sans Medium" panose="020B0604020202020204" charset="0"/>
            </a:endParaRPr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79" y="3950643"/>
            <a:ext cx="8167241" cy="1905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88379" y="4086374"/>
            <a:ext cx="219945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Limitations and conclusion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488379" y="4386783"/>
            <a:ext cx="816724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findings and recommendations</a:t>
            </a:r>
            <a:endParaRPr lang="en-US" sz="10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40728B-94AD-850A-B92D-34C625AF05B9}"/>
              </a:ext>
            </a:extLst>
          </p:cNvPr>
          <p:cNvSpPr/>
          <p:nvPr/>
        </p:nvSpPr>
        <p:spPr>
          <a:xfrm>
            <a:off x="7907131" y="4822255"/>
            <a:ext cx="1192695" cy="2709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457349" y="359643"/>
            <a:ext cx="5020216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Problem: Serialized GPU Work</a:t>
            </a:r>
            <a:endParaRPr lang="en-US" sz="2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349" y="1105298"/>
            <a:ext cx="653430" cy="78410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231255" y="1235969"/>
            <a:ext cx="1711375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Copy data CPU → GPU</a:t>
            </a:r>
            <a:endParaRPr lang="en-US" sz="1250" dirty="0"/>
          </a:p>
        </p:txBody>
      </p:sp>
      <p:sp>
        <p:nvSpPr>
          <p:cNvPr id="8" name="Text 3"/>
          <p:cNvSpPr/>
          <p:nvPr/>
        </p:nvSpPr>
        <p:spPr>
          <a:xfrm>
            <a:off x="1231255" y="1512343"/>
            <a:ext cx="40263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Memory transfer to device</a:t>
            </a:r>
            <a:endParaRPr lang="en-US" sz="10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349" y="1889399"/>
            <a:ext cx="653430" cy="78410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231255" y="2020070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Run kernel on GPU</a:t>
            </a:r>
            <a:endParaRPr lang="en-US" sz="1250" dirty="0"/>
          </a:p>
        </p:txBody>
      </p:sp>
      <p:sp>
        <p:nvSpPr>
          <p:cNvPr id="11" name="Text 5"/>
          <p:cNvSpPr/>
          <p:nvPr/>
        </p:nvSpPr>
        <p:spPr>
          <a:xfrm>
            <a:off x="1231255" y="2296444"/>
            <a:ext cx="40263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Computation execution</a:t>
            </a:r>
            <a:endParaRPr lang="en-US" sz="10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349" y="2673500"/>
            <a:ext cx="653430" cy="78410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31255" y="2804171"/>
            <a:ext cx="181146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Copy result GPU → CPU</a:t>
            </a:r>
            <a:endParaRPr lang="en-US" sz="1250" dirty="0"/>
          </a:p>
        </p:txBody>
      </p:sp>
      <p:sp>
        <p:nvSpPr>
          <p:cNvPr id="14" name="Text 7"/>
          <p:cNvSpPr/>
          <p:nvPr/>
        </p:nvSpPr>
        <p:spPr>
          <a:xfrm>
            <a:off x="1231255" y="3080545"/>
            <a:ext cx="40263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Results transfer back</a:t>
            </a:r>
            <a:endParaRPr lang="en-US" sz="1000" dirty="0"/>
          </a:p>
        </p:txBody>
      </p:sp>
      <p:sp>
        <p:nvSpPr>
          <p:cNvPr id="15" name="Text 8"/>
          <p:cNvSpPr/>
          <p:nvPr/>
        </p:nvSpPr>
        <p:spPr>
          <a:xfrm>
            <a:off x="457349" y="3703542"/>
            <a:ext cx="480030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Problem:</a:t>
            </a: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The workflow is correct, but serialized. Each stage must complete before the next begins, leaving the GPU idle during transfers.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457349" y="4240737"/>
            <a:ext cx="480030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Goal:</a:t>
            </a: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Turn the workflow into a pipeline where memory operations and computation overlap.</a:t>
            </a:r>
            <a:endParaRPr lang="en-US" sz="10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68DA0C9-1CE8-4C32-A178-8864877A98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29" r="1"/>
          <a:stretch>
            <a:fillRect/>
          </a:stretch>
        </p:blipFill>
        <p:spPr bwMode="auto">
          <a:xfrm>
            <a:off x="5715000" y="0"/>
            <a:ext cx="3429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2602800-C94B-8AFC-5E79-F2C832AFD6E0}"/>
              </a:ext>
            </a:extLst>
          </p:cNvPr>
          <p:cNvSpPr txBox="1"/>
          <p:nvPr/>
        </p:nvSpPr>
        <p:spPr>
          <a:xfrm>
            <a:off x="8087156" y="4921218"/>
            <a:ext cx="109517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solidFill>
                  <a:schemeClr val="bg1"/>
                </a:solidFill>
              </a:rPr>
              <a:t>NVIDIA Developer Blog, 2017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448633" y="51375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CUDA Streams: The Key Idea</a:t>
            </a:r>
            <a:endParaRPr lang="en-US" sz="2750" dirty="0"/>
          </a:p>
        </p:txBody>
      </p:sp>
      <p:sp>
        <p:nvSpPr>
          <p:cNvPr id="6" name="Text 2"/>
          <p:cNvSpPr/>
          <p:nvPr/>
        </p:nvSpPr>
        <p:spPr>
          <a:xfrm>
            <a:off x="748208" y="1178272"/>
            <a:ext cx="218844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CUDA stream = ordered queue of GPU work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748208" y="1762943"/>
            <a:ext cx="21884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Inside one stream: </a:t>
            </a: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copy → kernel → copy back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48208" y="2344117"/>
            <a:ext cx="21884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Across streams: operations may overlap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48208" y="286705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Important tools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48208" y="3230266"/>
            <a:ext cx="2188443" cy="1474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cudaMemcpyAsync</a:t>
            </a: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for asynchronous transfers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Non-default streams for parallel queues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Pinned host memory for faster transfers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964998" y="3838662"/>
            <a:ext cx="4722763" cy="829196"/>
          </a:xfrm>
          <a:prstGeom prst="roundRect">
            <a:avLst>
              <a:gd name="adj" fmla="val 7181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6756" y="4053719"/>
            <a:ext cx="177180" cy="14175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25695" y="4015842"/>
            <a:ext cx="4120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insight:</a:t>
            </a:r>
            <a:r>
              <a:rPr lang="en-US" sz="1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Ordered inside a stream, possible overlap across streams</a:t>
            </a:r>
            <a:endParaRPr lang="en-US" sz="1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DDB6BC-B76B-7788-64E3-D3037D6AE5A9}"/>
              </a:ext>
            </a:extLst>
          </p:cNvPr>
          <p:cNvSpPr/>
          <p:nvPr/>
        </p:nvSpPr>
        <p:spPr>
          <a:xfrm>
            <a:off x="7907131" y="4822255"/>
            <a:ext cx="1192695" cy="2709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UDA Stream - Lei Mao's Log Book">
            <a:extLst>
              <a:ext uri="{FF2B5EF4-FFF2-40B4-BE49-F238E27FC236}">
                <a16:creationId xmlns:a16="http://schemas.microsoft.com/office/drawing/2014/main" id="{069659E9-15A1-6195-699A-EFBF3738C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5113" y="1257239"/>
            <a:ext cx="5204492" cy="2067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4864A1F-80C9-E71A-DFF9-B4F24FEFAED7}"/>
              </a:ext>
            </a:extLst>
          </p:cNvPr>
          <p:cNvSpPr txBox="1"/>
          <p:nvPr/>
        </p:nvSpPr>
        <p:spPr>
          <a:xfrm>
            <a:off x="7308163" y="3217112"/>
            <a:ext cx="123783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" dirty="0"/>
              <a:t>Lei Mao, </a:t>
            </a:r>
            <a:r>
              <a:rPr lang="pt-BR" sz="600" i="1" dirty="0"/>
              <a:t>CUDA Stream</a:t>
            </a:r>
            <a:r>
              <a:rPr lang="pt-BR" sz="600" dirty="0"/>
              <a:t> blog, 2020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367978"/>
            <a:ext cx="3877866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505468"/>
                </a:solidFill>
                <a:latin typeface="Instrument Sans Semi Bold" pitchFamily="34" charset="0"/>
              </a:rPr>
              <a:t>Implementation using add-matrices.cu 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26393" y="1100882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Baseline version (add-matrices-cuda.cu)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26393" y="1395859"/>
            <a:ext cx="399700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 copy → one kernel → full copy back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12265" y="1089611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Streamed version (add-matrices-stream.cu)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12265" y="1351456"/>
            <a:ext cx="421010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Split matrix into chunks. Each stream handles: copy in → kernel → copy out</a:t>
            </a:r>
            <a:endParaRPr lang="en-US" sz="950" dirty="0"/>
          </a:p>
        </p:txBody>
      </p:sp>
      <p:pic>
        <p:nvPicPr>
          <p:cNvPr id="18" name="Picture 17" descr="The code snippet shows a CUDA programming example for copying data from host memory to device memory, performing matrix operations on the GPU, and then copying the result back to host memory.&#10;&#10;AI-generated content may be incorrect.">
            <a:extLst>
              <a:ext uri="{FF2B5EF4-FFF2-40B4-BE49-F238E27FC236}">
                <a16:creationId xmlns:a16="http://schemas.microsoft.com/office/drawing/2014/main" id="{5FB63F19-D315-3DA1-E88A-2321AF6E2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786" y="1784532"/>
            <a:ext cx="3735806" cy="125597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C642150-D463-631D-5AE1-1106763794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2265" y="1713852"/>
            <a:ext cx="3878432" cy="3108403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8A640371-304A-00F5-8C97-2CCF997ABA9F}"/>
              </a:ext>
            </a:extLst>
          </p:cNvPr>
          <p:cNvSpPr/>
          <p:nvPr/>
        </p:nvSpPr>
        <p:spPr>
          <a:xfrm>
            <a:off x="7907131" y="4822255"/>
            <a:ext cx="1192695" cy="2709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57A1BDC2-7243-ED09-6A41-50CCC535C5C6}"/>
              </a:ext>
            </a:extLst>
          </p:cNvPr>
          <p:cNvSpPr/>
          <p:nvPr/>
        </p:nvSpPr>
        <p:spPr>
          <a:xfrm>
            <a:off x="7907131" y="4822255"/>
            <a:ext cx="1192695" cy="2709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496119" y="194064"/>
            <a:ext cx="56031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Add-Matrices Benchmark Results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693754"/>
            <a:ext cx="4060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Streamed version was faster for most larger tests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78427" y="4367909"/>
            <a:ext cx="8151763" cy="602382"/>
          </a:xfrm>
          <a:prstGeom prst="roundRect">
            <a:avLst>
              <a:gd name="adj" fmla="val 9884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77" y="4594757"/>
            <a:ext cx="177180" cy="14175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69135" y="4509702"/>
            <a:ext cx="7549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Overlap reduces idle time</a:t>
            </a:r>
            <a:r>
              <a:rPr lang="en-US" sz="1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less waiting between copy and compute operations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86BEFBE-0C8F-F515-D654-07E926B7DD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427" y="1353798"/>
            <a:ext cx="3433485" cy="1857459"/>
          </a:xfrm>
          <a:prstGeom prst="rect">
            <a:avLst/>
          </a:prstGeom>
        </p:spPr>
      </p:pic>
      <p:pic>
        <p:nvPicPr>
          <p:cNvPr id="20" name="Picture 19" descr="The graph shows the relationship between matrix size and the speedup factor and runtime reduction, indicating a decrease in runtime as matrix size increases.&#10;&#10;AI-generated content may be incorrect.">
            <a:extLst>
              <a:ext uri="{FF2B5EF4-FFF2-40B4-BE49-F238E27FC236}">
                <a16:creationId xmlns:a16="http://schemas.microsoft.com/office/drawing/2014/main" id="{93FAAD33-3B9D-5D2A-F567-E08CFE7739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2515" y="1441074"/>
            <a:ext cx="3322562" cy="1822347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A852628D-AFCC-AF6A-42BE-54515F4AA495}"/>
              </a:ext>
            </a:extLst>
          </p:cNvPr>
          <p:cNvGrpSpPr/>
          <p:nvPr/>
        </p:nvGrpSpPr>
        <p:grpSpPr>
          <a:xfrm>
            <a:off x="1693707" y="3431023"/>
            <a:ext cx="5115838" cy="636421"/>
            <a:chOff x="496120" y="1910879"/>
            <a:chExt cx="8151762" cy="1178198"/>
          </a:xfrm>
        </p:grpSpPr>
        <p:sp>
          <p:nvSpPr>
            <p:cNvPr id="12" name="Text 10"/>
            <p:cNvSpPr/>
            <p:nvPr/>
          </p:nvSpPr>
          <p:spPr>
            <a:xfrm>
              <a:off x="6048747" y="2862263"/>
              <a:ext cx="2599134" cy="226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750"/>
                </a:lnSpc>
                <a:buNone/>
              </a:pPr>
              <a:r>
                <a:rPr lang="en-US" sz="1100" dirty="0">
                  <a:solidFill>
                    <a:srgbClr val="5B5F71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Speedup achieved</a:t>
              </a:r>
              <a:endParaRPr lang="en-US" sz="1100" dirty="0"/>
            </a:p>
          </p:txBody>
        </p:sp>
        <p:sp>
          <p:nvSpPr>
            <p:cNvPr id="21" name="Text 2">
              <a:extLst>
                <a:ext uri="{FF2B5EF4-FFF2-40B4-BE49-F238E27FC236}">
                  <a16:creationId xmlns:a16="http://schemas.microsoft.com/office/drawing/2014/main" id="{FC946FF8-1D4E-9E6E-3B3E-034259AE67F9}"/>
                </a:ext>
              </a:extLst>
            </p:cNvPr>
            <p:cNvSpPr/>
            <p:nvPr/>
          </p:nvSpPr>
          <p:spPr>
            <a:xfrm>
              <a:off x="496120" y="1910879"/>
              <a:ext cx="2599134" cy="4677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3650"/>
                </a:lnSpc>
                <a:buNone/>
              </a:pPr>
              <a:r>
                <a:rPr lang="en-US" sz="3600" dirty="0">
                  <a:solidFill>
                    <a:srgbClr val="5B5F71"/>
                  </a:solidFill>
                  <a:latin typeface="Instrument Sans Semi Bold" pitchFamily="34" charset="0"/>
                  <a:ea typeface="Instrument Sans Semi Bold" pitchFamily="34" charset="-122"/>
                  <a:cs typeface="Instrument Sans Semi Bold" pitchFamily="34" charset="-120"/>
                </a:rPr>
                <a:t>1.66×</a:t>
              </a:r>
              <a:endParaRPr lang="en-US" sz="3600" dirty="0"/>
            </a:p>
          </p:txBody>
        </p:sp>
        <p:sp>
          <p:nvSpPr>
            <p:cNvPr id="22" name="Text 3">
              <a:extLst>
                <a:ext uri="{FF2B5EF4-FFF2-40B4-BE49-F238E27FC236}">
                  <a16:creationId xmlns:a16="http://schemas.microsoft.com/office/drawing/2014/main" id="{46F1B4D2-57B0-DFBB-892D-400553B766BD}"/>
                </a:ext>
              </a:extLst>
            </p:cNvPr>
            <p:cNvSpPr/>
            <p:nvPr/>
          </p:nvSpPr>
          <p:spPr>
            <a:xfrm>
              <a:off x="909638" y="2555751"/>
              <a:ext cx="1772022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700"/>
                </a:lnSpc>
                <a:buNone/>
              </a:pPr>
              <a:r>
                <a:rPr lang="en-US" sz="1350" dirty="0">
                  <a:solidFill>
                    <a:srgbClr val="5B5F71"/>
                  </a:solidFill>
                  <a:latin typeface="Instrument Sans Semi Bold" pitchFamily="34" charset="0"/>
                  <a:ea typeface="Instrument Sans Semi Bold" pitchFamily="34" charset="-122"/>
                  <a:cs typeface="Instrument Sans Semi Bold" pitchFamily="34" charset="-120"/>
                </a:rPr>
                <a:t>1024×1024</a:t>
              </a:r>
              <a:endParaRPr lang="en-US" sz="1350" dirty="0"/>
            </a:p>
          </p:txBody>
        </p:sp>
        <p:sp>
          <p:nvSpPr>
            <p:cNvPr id="23" name="Text 4">
              <a:extLst>
                <a:ext uri="{FF2B5EF4-FFF2-40B4-BE49-F238E27FC236}">
                  <a16:creationId xmlns:a16="http://schemas.microsoft.com/office/drawing/2014/main" id="{FF4E6329-0AF4-9640-31F1-5382A800EA7B}"/>
                </a:ext>
              </a:extLst>
            </p:cNvPr>
            <p:cNvSpPr/>
            <p:nvPr/>
          </p:nvSpPr>
          <p:spPr>
            <a:xfrm>
              <a:off x="496120" y="2862263"/>
              <a:ext cx="2599134" cy="226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750"/>
                </a:lnSpc>
                <a:buNone/>
              </a:pPr>
              <a:r>
                <a:rPr lang="en-US" sz="1100" dirty="0">
                  <a:solidFill>
                    <a:srgbClr val="5B5F71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Speedup achieved</a:t>
              </a:r>
              <a:endParaRPr lang="en-US" sz="1100" dirty="0"/>
            </a:p>
          </p:txBody>
        </p:sp>
        <p:sp>
          <p:nvSpPr>
            <p:cNvPr id="24" name="Text 5">
              <a:extLst>
                <a:ext uri="{FF2B5EF4-FFF2-40B4-BE49-F238E27FC236}">
                  <a16:creationId xmlns:a16="http://schemas.microsoft.com/office/drawing/2014/main" id="{5A203296-A8A0-6A53-0E03-745EF207E438}"/>
                </a:ext>
              </a:extLst>
            </p:cNvPr>
            <p:cNvSpPr/>
            <p:nvPr/>
          </p:nvSpPr>
          <p:spPr>
            <a:xfrm>
              <a:off x="3272434" y="1910879"/>
              <a:ext cx="2599134" cy="4677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3650"/>
                </a:lnSpc>
                <a:buNone/>
              </a:pPr>
              <a:r>
                <a:rPr lang="en-US" sz="3650" dirty="0">
                  <a:solidFill>
                    <a:srgbClr val="5B5F71"/>
                  </a:solidFill>
                  <a:latin typeface="Instrument Sans Semi Bold" pitchFamily="34" charset="0"/>
                  <a:ea typeface="Instrument Sans Semi Bold" pitchFamily="34" charset="-122"/>
                  <a:cs typeface="Instrument Sans Semi Bold" pitchFamily="34" charset="-120"/>
                </a:rPr>
                <a:t>1.44×</a:t>
              </a:r>
              <a:endParaRPr lang="en-US" sz="3650" dirty="0"/>
            </a:p>
          </p:txBody>
        </p:sp>
        <p:sp>
          <p:nvSpPr>
            <p:cNvPr id="25" name="Text 6">
              <a:extLst>
                <a:ext uri="{FF2B5EF4-FFF2-40B4-BE49-F238E27FC236}">
                  <a16:creationId xmlns:a16="http://schemas.microsoft.com/office/drawing/2014/main" id="{B02FD7E0-648C-F56C-BAED-6CB5C534B400}"/>
                </a:ext>
              </a:extLst>
            </p:cNvPr>
            <p:cNvSpPr/>
            <p:nvPr/>
          </p:nvSpPr>
          <p:spPr>
            <a:xfrm>
              <a:off x="3685953" y="2555751"/>
              <a:ext cx="1772022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700"/>
                </a:lnSpc>
                <a:buNone/>
              </a:pPr>
              <a:r>
                <a:rPr lang="en-US" sz="1350" dirty="0">
                  <a:solidFill>
                    <a:srgbClr val="5B5F71"/>
                  </a:solidFill>
                  <a:latin typeface="Instrument Sans Semi Bold" pitchFamily="34" charset="0"/>
                  <a:ea typeface="Instrument Sans Semi Bold" pitchFamily="34" charset="-122"/>
                  <a:cs typeface="Instrument Sans Semi Bold" pitchFamily="34" charset="-120"/>
                </a:rPr>
                <a:t>4096×4096</a:t>
              </a:r>
              <a:endParaRPr lang="en-US" sz="1350" dirty="0"/>
            </a:p>
          </p:txBody>
        </p:sp>
        <p:sp>
          <p:nvSpPr>
            <p:cNvPr id="26" name="Text 7">
              <a:extLst>
                <a:ext uri="{FF2B5EF4-FFF2-40B4-BE49-F238E27FC236}">
                  <a16:creationId xmlns:a16="http://schemas.microsoft.com/office/drawing/2014/main" id="{5C018824-ADC2-B70D-E5A1-55600C9A39BE}"/>
                </a:ext>
              </a:extLst>
            </p:cNvPr>
            <p:cNvSpPr/>
            <p:nvPr/>
          </p:nvSpPr>
          <p:spPr>
            <a:xfrm>
              <a:off x="3272434" y="2862263"/>
              <a:ext cx="2599134" cy="226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750"/>
                </a:lnSpc>
                <a:buNone/>
              </a:pPr>
              <a:r>
                <a:rPr lang="en-US" sz="1100" dirty="0">
                  <a:solidFill>
                    <a:srgbClr val="5B5F71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Speedup achieved</a:t>
              </a:r>
              <a:endParaRPr lang="en-US" sz="1100" dirty="0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325C87BF-8632-6917-97EB-171D9756AD87}"/>
                </a:ext>
              </a:extLst>
            </p:cNvPr>
            <p:cNvSpPr/>
            <p:nvPr/>
          </p:nvSpPr>
          <p:spPr>
            <a:xfrm>
              <a:off x="6048748" y="1910879"/>
              <a:ext cx="2599134" cy="4677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3650"/>
                </a:lnSpc>
                <a:buNone/>
              </a:pPr>
              <a:r>
                <a:rPr lang="en-US" sz="3650" dirty="0">
                  <a:solidFill>
                    <a:srgbClr val="5B5F71"/>
                  </a:solidFill>
                  <a:latin typeface="Instrument Sans Semi Bold" pitchFamily="34" charset="0"/>
                  <a:ea typeface="Instrument Sans Semi Bold" pitchFamily="34" charset="-122"/>
                  <a:cs typeface="Instrument Sans Semi Bold" pitchFamily="34" charset="-120"/>
                </a:rPr>
                <a:t>1.47×</a:t>
              </a:r>
              <a:endParaRPr lang="en-US" sz="3650" dirty="0"/>
            </a:p>
          </p:txBody>
        </p:sp>
        <p:sp>
          <p:nvSpPr>
            <p:cNvPr id="28" name="Text 9">
              <a:extLst>
                <a:ext uri="{FF2B5EF4-FFF2-40B4-BE49-F238E27FC236}">
                  <a16:creationId xmlns:a16="http://schemas.microsoft.com/office/drawing/2014/main" id="{FBC8E7AE-2F83-F507-DCDB-A8D8F5850A2C}"/>
                </a:ext>
              </a:extLst>
            </p:cNvPr>
            <p:cNvSpPr/>
            <p:nvPr/>
          </p:nvSpPr>
          <p:spPr>
            <a:xfrm>
              <a:off x="6462267" y="2555751"/>
              <a:ext cx="1772022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700"/>
                </a:lnSpc>
                <a:buNone/>
              </a:pPr>
              <a:r>
                <a:rPr lang="en-US" sz="1350" dirty="0">
                  <a:solidFill>
                    <a:srgbClr val="5B5F71"/>
                  </a:solidFill>
                  <a:latin typeface="Instrument Sans Semi Bold" pitchFamily="34" charset="0"/>
                  <a:ea typeface="Instrument Sans Semi Bold" pitchFamily="34" charset="-122"/>
                  <a:cs typeface="Instrument Sans Semi Bold" pitchFamily="34" charset="-120"/>
                </a:rPr>
                <a:t>8192×8192</a:t>
              </a:r>
              <a:endParaRPr lang="en-US" sz="135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89" y="214332"/>
            <a:ext cx="371690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Stream Count Matters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31789" y="714022"/>
            <a:ext cx="239055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More streams ≠ always faster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2089993"/>
            <a:ext cx="2622724" cy="1496764"/>
          </a:xfrm>
          <a:prstGeom prst="roundRect">
            <a:avLst>
              <a:gd name="adj" fmla="val 610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070943"/>
            <a:ext cx="2622724" cy="762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4805" y="1877392"/>
            <a:ext cx="425276" cy="4252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22351" y="1983730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56927" y="2444353"/>
            <a:ext cx="185945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 stream can be slower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56927" y="2750865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Single stream overhead without benefit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60601" y="2089993"/>
            <a:ext cx="2622724" cy="1496764"/>
          </a:xfrm>
          <a:prstGeom prst="roundRect">
            <a:avLst>
              <a:gd name="adj" fmla="val 610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0601" y="2070943"/>
            <a:ext cx="2622724" cy="76200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9287" y="1877392"/>
            <a:ext cx="425276" cy="4252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486833" y="1983730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3421410" y="2444353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2–4 streams often performed best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3421410" y="2972321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Optimal balance of overlap and overhead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6025083" y="2089993"/>
            <a:ext cx="2622724" cy="1496764"/>
          </a:xfrm>
          <a:prstGeom prst="roundRect">
            <a:avLst>
              <a:gd name="adj" fmla="val 610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083" y="2070943"/>
            <a:ext cx="2622724" cy="76200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770" y="1877392"/>
            <a:ext cx="425276" cy="42527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251316" y="1983730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2"/>
          <p:cNvSpPr/>
          <p:nvPr/>
        </p:nvSpPr>
        <p:spPr>
          <a:xfrm>
            <a:off x="6185892" y="2444353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8 streams was not always helpful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6185892" y="2972321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Resource contention and diminishing returns</a:t>
            </a:r>
            <a:endParaRPr lang="en-US" sz="1100" dirty="0"/>
          </a:p>
        </p:txBody>
      </p:sp>
      <p:sp>
        <p:nvSpPr>
          <p:cNvPr id="22" name="Text 14"/>
          <p:cNvSpPr/>
          <p:nvPr/>
        </p:nvSpPr>
        <p:spPr>
          <a:xfrm>
            <a:off x="496119" y="3746227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Reason:</a:t>
            </a: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Streams add overhead and compete for hardware resources. Best performance came from tuning, not maximizing streams.</a:t>
            </a:r>
            <a:endParaRPr lang="en-US" sz="11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BA1F36-5C2E-0BDC-FC73-3291FCEFEF03}"/>
              </a:ext>
            </a:extLst>
          </p:cNvPr>
          <p:cNvSpPr/>
          <p:nvPr/>
        </p:nvSpPr>
        <p:spPr>
          <a:xfrm>
            <a:off x="7907131" y="4822255"/>
            <a:ext cx="1192695" cy="2709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-908992" y="249870"/>
            <a:ext cx="7450769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Profiling with Nsight Systems</a:t>
            </a:r>
            <a:endParaRPr lang="en-US" sz="275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12F3B2E-0CA2-08C1-D5EC-5E74E35E4FBD}"/>
              </a:ext>
            </a:extLst>
          </p:cNvPr>
          <p:cNvGrpSpPr/>
          <p:nvPr/>
        </p:nvGrpSpPr>
        <p:grpSpPr>
          <a:xfrm>
            <a:off x="457505" y="982282"/>
            <a:ext cx="8538160" cy="1019914"/>
            <a:chOff x="457505" y="982282"/>
            <a:chExt cx="8538160" cy="1019914"/>
          </a:xfrm>
        </p:grpSpPr>
        <p:sp>
          <p:nvSpPr>
            <p:cNvPr id="6" name="Text 2"/>
            <p:cNvSpPr/>
            <p:nvPr/>
          </p:nvSpPr>
          <p:spPr>
            <a:xfrm>
              <a:off x="457505" y="982282"/>
              <a:ext cx="1772022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1350" dirty="0">
                  <a:solidFill>
                    <a:srgbClr val="505468"/>
                  </a:solidFill>
                  <a:latin typeface="Instrument Sans Semi Bold" pitchFamily="34" charset="0"/>
                  <a:ea typeface="Instrument Sans Semi Bold" pitchFamily="34" charset="-122"/>
                  <a:cs typeface="Instrument Sans Semi Bold" pitchFamily="34" charset="-120"/>
                </a:rPr>
                <a:t>Sequential timeline</a:t>
              </a:r>
              <a:endParaRPr lang="en-US" sz="1350" dirty="0"/>
            </a:p>
          </p:txBody>
        </p:sp>
        <p:sp>
          <p:nvSpPr>
            <p:cNvPr id="7" name="Text 3"/>
            <p:cNvSpPr/>
            <p:nvPr/>
          </p:nvSpPr>
          <p:spPr>
            <a:xfrm>
              <a:off x="457505" y="1274820"/>
              <a:ext cx="2188443" cy="226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100" dirty="0">
                  <a:solidFill>
                    <a:srgbClr val="5B5F71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copy → kernel → copy back</a:t>
              </a:r>
              <a:endParaRPr lang="en-US" sz="1100" dirty="0"/>
            </a:p>
          </p:txBody>
        </p:sp>
        <p:sp>
          <p:nvSpPr>
            <p:cNvPr id="8" name="Text 4"/>
            <p:cNvSpPr/>
            <p:nvPr/>
          </p:nvSpPr>
          <p:spPr>
            <a:xfrm>
              <a:off x="4298262" y="1548568"/>
              <a:ext cx="3214488" cy="4536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100" dirty="0">
                  <a:solidFill>
                    <a:srgbClr val="505468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Large idle gaps between operations</a:t>
              </a:r>
              <a:endParaRPr lang="en-US" sz="1100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2017307-2361-61AA-59D4-C0862DFA8E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30343" y="1022333"/>
              <a:ext cx="6265322" cy="460009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1BE6E41-7EFC-A255-0055-EB4323FFC588}"/>
              </a:ext>
            </a:extLst>
          </p:cNvPr>
          <p:cNvGrpSpPr/>
          <p:nvPr/>
        </p:nvGrpSpPr>
        <p:grpSpPr>
          <a:xfrm>
            <a:off x="460398" y="1930230"/>
            <a:ext cx="8002001" cy="1096423"/>
            <a:chOff x="460398" y="1930230"/>
            <a:chExt cx="8002001" cy="1096423"/>
          </a:xfrm>
        </p:grpSpPr>
        <p:sp>
          <p:nvSpPr>
            <p:cNvPr id="9" name="Text 5"/>
            <p:cNvSpPr/>
            <p:nvPr/>
          </p:nvSpPr>
          <p:spPr>
            <a:xfrm>
              <a:off x="460398" y="2006490"/>
              <a:ext cx="1772022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1350" dirty="0">
                  <a:solidFill>
                    <a:srgbClr val="505468"/>
                  </a:solidFill>
                  <a:latin typeface="Instrument Sans Semi Bold" pitchFamily="34" charset="0"/>
                  <a:ea typeface="Instrument Sans Semi Bold" pitchFamily="34" charset="-122"/>
                  <a:cs typeface="Instrument Sans Semi Bold" pitchFamily="34" charset="-120"/>
                </a:rPr>
                <a:t>Streamed timeline</a:t>
              </a:r>
              <a:endParaRPr lang="en-US" sz="1350" dirty="0"/>
            </a:p>
          </p:txBody>
        </p:sp>
        <p:sp>
          <p:nvSpPr>
            <p:cNvPr id="10" name="Text 6"/>
            <p:cNvSpPr/>
            <p:nvPr/>
          </p:nvSpPr>
          <p:spPr>
            <a:xfrm>
              <a:off x="460398" y="2272318"/>
              <a:ext cx="2188443" cy="4536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100" dirty="0">
                  <a:solidFill>
                    <a:srgbClr val="5B5F71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Copy, kernel, and copy-back are interleaved</a:t>
              </a:r>
              <a:endParaRPr lang="en-US" sz="1100" dirty="0"/>
            </a:p>
          </p:txBody>
        </p:sp>
        <p:sp>
          <p:nvSpPr>
            <p:cNvPr id="11" name="Text 7"/>
            <p:cNvSpPr/>
            <p:nvPr/>
          </p:nvSpPr>
          <p:spPr>
            <a:xfrm>
              <a:off x="4333601" y="2573025"/>
              <a:ext cx="3028395" cy="4536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100" dirty="0">
                  <a:solidFill>
                    <a:srgbClr val="505468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Operations overlap across multiple streams</a:t>
              </a:r>
              <a:endParaRPr lang="en-US" sz="1100" dirty="0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4BCCFE98-1FFD-C034-AD2E-F8AC8DFCEB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63010" y="1930230"/>
              <a:ext cx="5599389" cy="607162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F703467-5FBD-C834-E34B-B2B9E466B1A5}"/>
              </a:ext>
            </a:extLst>
          </p:cNvPr>
          <p:cNvGrpSpPr/>
          <p:nvPr/>
        </p:nvGrpSpPr>
        <p:grpSpPr>
          <a:xfrm>
            <a:off x="368962" y="2846173"/>
            <a:ext cx="8416330" cy="1243670"/>
            <a:chOff x="368962" y="2846173"/>
            <a:chExt cx="8416330" cy="1243670"/>
          </a:xfrm>
        </p:grpSpPr>
        <p:sp>
          <p:nvSpPr>
            <p:cNvPr id="12" name="Text 8"/>
            <p:cNvSpPr/>
            <p:nvPr/>
          </p:nvSpPr>
          <p:spPr>
            <a:xfrm>
              <a:off x="368962" y="3282961"/>
              <a:ext cx="4722763" cy="4536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100" b="1" dirty="0">
                  <a:solidFill>
                    <a:srgbClr val="5B5F71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Result:</a:t>
              </a:r>
              <a:r>
                <a:rPr lang="en-US" sz="1100" dirty="0">
                  <a:solidFill>
                    <a:srgbClr val="5B5F71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 Less idle space in the GPU workflow</a:t>
              </a:r>
              <a:endParaRPr lang="en-US" sz="1100" dirty="0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96E0C2F-B53B-B43C-7A69-5426B0166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07" t="-755" r="38345" b="755"/>
            <a:stretch>
              <a:fillRect/>
            </a:stretch>
          </p:blipFill>
          <p:spPr>
            <a:xfrm>
              <a:off x="4298262" y="2942592"/>
              <a:ext cx="4487030" cy="1147251"/>
            </a:xfrm>
            <a:prstGeom prst="rect">
              <a:avLst/>
            </a:prstGeom>
          </p:spPr>
        </p:pic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FBA30349-87CA-B844-148E-B1F02217F294}"/>
                </a:ext>
              </a:extLst>
            </p:cNvPr>
            <p:cNvSpPr/>
            <p:nvPr/>
          </p:nvSpPr>
          <p:spPr>
            <a:xfrm>
              <a:off x="3293975" y="2846173"/>
              <a:ext cx="798906" cy="362557"/>
            </a:xfrm>
            <a:prstGeom prst="roundRect">
              <a:avLst/>
            </a:prstGeom>
            <a:solidFill>
              <a:srgbClr val="1EE2AE"/>
            </a:solidFill>
            <a:ln>
              <a:solidFill>
                <a:srgbClr val="1EE2A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</a:t>
              </a:r>
              <a:r>
                <a:rPr lang="en-US" dirty="0">
                  <a:sym typeface="Wingdings" panose="05000000000000000000" pitchFamily="2" charset="2"/>
                </a:rPr>
                <a:t>D</a:t>
              </a:r>
              <a:endParaRPr lang="en-US" dirty="0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4910F198-1BB9-46F5-A3B9-3620FC9A1E05}"/>
                </a:ext>
              </a:extLst>
            </p:cNvPr>
            <p:cNvSpPr/>
            <p:nvPr/>
          </p:nvSpPr>
          <p:spPr>
            <a:xfrm>
              <a:off x="3275285" y="3282298"/>
              <a:ext cx="836287" cy="341421"/>
            </a:xfrm>
            <a:prstGeom prst="roundRect">
              <a:avLst/>
            </a:prstGeom>
            <a:solidFill>
              <a:srgbClr val="7995E1"/>
            </a:solidFill>
            <a:ln>
              <a:solidFill>
                <a:srgbClr val="799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Kernel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AE661002-E12D-BB55-DE08-131BAA572877}"/>
                </a:ext>
              </a:extLst>
            </p:cNvPr>
            <p:cNvSpPr/>
            <p:nvPr/>
          </p:nvSpPr>
          <p:spPr>
            <a:xfrm>
              <a:off x="3275285" y="3701744"/>
              <a:ext cx="836287" cy="341421"/>
            </a:xfrm>
            <a:prstGeom prst="roundRect">
              <a:avLst/>
            </a:prstGeom>
            <a:solidFill>
              <a:srgbClr val="E079FF"/>
            </a:solidFill>
            <a:ln>
              <a:solidFill>
                <a:srgbClr val="E07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r>
                <a:rPr lang="en-US" dirty="0">
                  <a:sym typeface="Wingdings" panose="05000000000000000000" pitchFamily="2" charset="2"/>
                </a:rPr>
                <a:t></a:t>
              </a:r>
              <a:r>
                <a:rPr lang="en-US" dirty="0"/>
                <a:t>H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1B37AAF-A3E1-FC91-AE19-BBD3DF8DBD47}"/>
              </a:ext>
            </a:extLst>
          </p:cNvPr>
          <p:cNvGrpSpPr/>
          <p:nvPr/>
        </p:nvGrpSpPr>
        <p:grpSpPr>
          <a:xfrm>
            <a:off x="579245" y="4198065"/>
            <a:ext cx="8158244" cy="522690"/>
            <a:chOff x="579245" y="4198065"/>
            <a:chExt cx="8158244" cy="52269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15E3B70-53C3-C569-440E-6FC5F7A180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30343" y="4198065"/>
              <a:ext cx="6007146" cy="522690"/>
            </a:xfrm>
            <a:prstGeom prst="rect">
              <a:avLst/>
            </a:prstGeom>
          </p:spPr>
        </p:pic>
        <p:sp>
          <p:nvSpPr>
            <p:cNvPr id="24" name="Text 8">
              <a:extLst>
                <a:ext uri="{FF2B5EF4-FFF2-40B4-BE49-F238E27FC236}">
                  <a16:creationId xmlns:a16="http://schemas.microsoft.com/office/drawing/2014/main" id="{C994D228-47C4-A571-9B6B-64837BE0DCC1}"/>
                </a:ext>
              </a:extLst>
            </p:cNvPr>
            <p:cNvSpPr/>
            <p:nvPr/>
          </p:nvSpPr>
          <p:spPr>
            <a:xfrm>
              <a:off x="579245" y="4198065"/>
              <a:ext cx="1944961" cy="4536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750"/>
                </a:lnSpc>
                <a:buNone/>
              </a:pPr>
              <a:r>
                <a:rPr lang="en-US" sz="1100" dirty="0">
                  <a:solidFill>
                    <a:srgbClr val="5B5F71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Results from running code with 10000x10000</a:t>
              </a:r>
              <a:endParaRPr lang="en-US" sz="1100" dirty="0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C12F1E4E-42E8-DBAC-5771-1344E7875237}"/>
              </a:ext>
            </a:extLst>
          </p:cNvPr>
          <p:cNvSpPr/>
          <p:nvPr/>
        </p:nvSpPr>
        <p:spPr>
          <a:xfrm>
            <a:off x="7907131" y="4822255"/>
            <a:ext cx="1192695" cy="2709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87927"/>
            <a:ext cx="722754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Dot-Matrices Extension: Realistic Workload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758904"/>
            <a:ext cx="357611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Streams tested on larger iterative workload ( codes from project 4)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6119" y="4368627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Main finding:</a:t>
            </a:r>
            <a:endParaRPr lang="en-US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538856-7885-85BF-0A9D-A0CC071303FC}"/>
              </a:ext>
            </a:extLst>
          </p:cNvPr>
          <p:cNvSpPr/>
          <p:nvPr/>
        </p:nvSpPr>
        <p:spPr>
          <a:xfrm>
            <a:off x="7907131" y="4822255"/>
            <a:ext cx="1192695" cy="2709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 descr="The diagram compares the computation time for dot matrices of different sizes, showing that streamed matrices perform faster than non-streamed matrices.&#10;&#10;AI-generated content may be incorrect.">
            <a:extLst>
              <a:ext uri="{FF2B5EF4-FFF2-40B4-BE49-F238E27FC236}">
                <a16:creationId xmlns:a16="http://schemas.microsoft.com/office/drawing/2014/main" id="{30A6B312-469A-C1EC-AF5C-943DDCCB7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776" y="1167388"/>
            <a:ext cx="2751568" cy="1414043"/>
          </a:xfrm>
          <a:prstGeom prst="rect">
            <a:avLst/>
          </a:prstGeom>
        </p:spPr>
      </p:pic>
      <p:pic>
        <p:nvPicPr>
          <p:cNvPr id="19" name="Picture 18" descr="The diagram illustrates a comparison between streamed and non-streamed computations for various matrix sizes, showing that streamed computations are significantly faster, particularly as matrix size increases.&#10;&#10;AI-generated content may be incorrect.">
            <a:extLst>
              <a:ext uri="{FF2B5EF4-FFF2-40B4-BE49-F238E27FC236}">
                <a16:creationId xmlns:a16="http://schemas.microsoft.com/office/drawing/2014/main" id="{2FF48A01-D370-EFC6-3AE8-6EEFC3FFF3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777" y="2754294"/>
            <a:ext cx="2880226" cy="148016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7350618-4E57-05F9-2BA7-C1D20FEEBA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2236" y="2754293"/>
            <a:ext cx="2880226" cy="1480161"/>
          </a:xfrm>
          <a:prstGeom prst="rect">
            <a:avLst/>
          </a:prstGeom>
        </p:spPr>
      </p:pic>
      <p:sp>
        <p:nvSpPr>
          <p:cNvPr id="22" name="Text 2">
            <a:extLst>
              <a:ext uri="{FF2B5EF4-FFF2-40B4-BE49-F238E27FC236}">
                <a16:creationId xmlns:a16="http://schemas.microsoft.com/office/drawing/2014/main" id="{32B2B494-89DA-F0CD-2F1F-9B21BB08FDC3}"/>
              </a:ext>
            </a:extLst>
          </p:cNvPr>
          <p:cNvSpPr/>
          <p:nvPr/>
        </p:nvSpPr>
        <p:spPr>
          <a:xfrm>
            <a:off x="3982517" y="1065797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At 10000×10000 streamed compute time:</a:t>
            </a:r>
            <a:endParaRPr lang="en-US" sz="11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F3E3EA3-5173-702C-C029-D9FB6F4ECCF5}"/>
              </a:ext>
            </a:extLst>
          </p:cNvPr>
          <p:cNvGrpSpPr/>
          <p:nvPr/>
        </p:nvGrpSpPr>
        <p:grpSpPr>
          <a:xfrm>
            <a:off x="3746543" y="1433988"/>
            <a:ext cx="5160294" cy="787333"/>
            <a:chOff x="496119" y="2371502"/>
            <a:chExt cx="8151762" cy="1183631"/>
          </a:xfrm>
        </p:grpSpPr>
        <p:sp>
          <p:nvSpPr>
            <p:cNvPr id="5" name="Text 3"/>
            <p:cNvSpPr/>
            <p:nvPr/>
          </p:nvSpPr>
          <p:spPr>
            <a:xfrm>
              <a:off x="496119" y="2371502"/>
              <a:ext cx="2599134" cy="4677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3650"/>
                </a:lnSpc>
                <a:buNone/>
              </a:pPr>
              <a:r>
                <a:rPr lang="en-US" sz="3650" dirty="0">
                  <a:solidFill>
                    <a:srgbClr val="5B5F71"/>
                  </a:solidFill>
                  <a:latin typeface="Instrument Sans Semi Bold" pitchFamily="34" charset="0"/>
                  <a:ea typeface="Instrument Sans Semi Bold" pitchFamily="34" charset="-122"/>
                  <a:cs typeface="Instrument Sans Semi Bold" pitchFamily="34" charset="-120"/>
                </a:rPr>
                <a:t>2.071</a:t>
              </a:r>
              <a:endParaRPr lang="en-US" sz="365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909637" y="3016374"/>
              <a:ext cx="1772022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700"/>
                </a:lnSpc>
                <a:buNone/>
              </a:pPr>
              <a:r>
                <a:rPr lang="en-US" sz="1350" dirty="0">
                  <a:solidFill>
                    <a:srgbClr val="5B5F71"/>
                  </a:solidFill>
                  <a:latin typeface="Instrument Sans Semi Bold" pitchFamily="34" charset="0"/>
                  <a:ea typeface="Instrument Sans Semi Bold" pitchFamily="34" charset="-122"/>
                  <a:cs typeface="Instrument Sans Semi Bold" pitchFamily="34" charset="-120"/>
                </a:rPr>
                <a:t>P1000</a:t>
              </a:r>
              <a:endParaRPr lang="en-US" sz="135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96119" y="3322886"/>
              <a:ext cx="2599134" cy="226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750"/>
                </a:lnSpc>
                <a:buNone/>
              </a:pPr>
              <a:r>
                <a:rPr lang="en-US" sz="1100" dirty="0">
                  <a:solidFill>
                    <a:srgbClr val="5B5F71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Seconds</a:t>
              </a:r>
              <a:endParaRPr lang="en-US" sz="11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272433" y="2371502"/>
              <a:ext cx="2599134" cy="4677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3650"/>
                </a:lnSpc>
                <a:buNone/>
              </a:pPr>
              <a:r>
                <a:rPr lang="en-US" sz="3650" dirty="0">
                  <a:solidFill>
                    <a:srgbClr val="5B5F71"/>
                  </a:solidFill>
                  <a:latin typeface="Instrument Sans Semi Bold" pitchFamily="34" charset="0"/>
                  <a:ea typeface="Instrument Sans Semi Bold" pitchFamily="34" charset="-122"/>
                  <a:cs typeface="Instrument Sans Semi Bold" pitchFamily="34" charset="-120"/>
                </a:rPr>
                <a:t>0.573</a:t>
              </a:r>
              <a:endParaRPr lang="en-US" sz="365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685952" y="3016374"/>
              <a:ext cx="1772022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700"/>
                </a:lnSpc>
                <a:buNone/>
              </a:pPr>
              <a:r>
                <a:rPr lang="en-US" sz="1350" dirty="0">
                  <a:solidFill>
                    <a:srgbClr val="5B5F71"/>
                  </a:solidFill>
                  <a:latin typeface="Instrument Sans Semi Bold" pitchFamily="34" charset="0"/>
                  <a:ea typeface="Instrument Sans Semi Bold" pitchFamily="34" charset="-122"/>
                  <a:cs typeface="Instrument Sans Semi Bold" pitchFamily="34" charset="-120"/>
                </a:rPr>
                <a:t>RTX3000</a:t>
              </a:r>
              <a:endParaRPr lang="en-US" sz="13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272433" y="3322886"/>
              <a:ext cx="2599134" cy="226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750"/>
                </a:lnSpc>
                <a:buNone/>
              </a:pPr>
              <a:r>
                <a:rPr lang="en-US" sz="1100" dirty="0">
                  <a:solidFill>
                    <a:srgbClr val="5B5F71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Seconds</a:t>
              </a:r>
              <a:endParaRPr lang="en-US" sz="11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048747" y="2371502"/>
              <a:ext cx="2599134" cy="4677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3650"/>
                </a:lnSpc>
                <a:buNone/>
              </a:pPr>
              <a:r>
                <a:rPr lang="en-US" sz="3650" dirty="0">
                  <a:solidFill>
                    <a:srgbClr val="5B5F71"/>
                  </a:solidFill>
                  <a:latin typeface="Instrument Sans Semi Bold" pitchFamily="34" charset="0"/>
                  <a:ea typeface="Instrument Sans Semi Bold" pitchFamily="34" charset="-122"/>
                  <a:cs typeface="Instrument Sans Semi Bold" pitchFamily="34" charset="-120"/>
                </a:rPr>
                <a:t>0.367</a:t>
              </a:r>
              <a:endParaRPr lang="en-US" sz="365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6462266" y="3016374"/>
              <a:ext cx="1772022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700"/>
                </a:lnSpc>
                <a:buNone/>
              </a:pPr>
              <a:r>
                <a:rPr lang="en-US" sz="1350" dirty="0">
                  <a:solidFill>
                    <a:srgbClr val="5B5F71"/>
                  </a:solidFill>
                  <a:latin typeface="Instrument Sans Semi Bold" pitchFamily="34" charset="0"/>
                  <a:ea typeface="Instrument Sans Semi Bold" pitchFamily="34" charset="-122"/>
                  <a:cs typeface="Instrument Sans Semi Bold" pitchFamily="34" charset="-120"/>
                </a:rPr>
                <a:t>RTXA5000</a:t>
              </a:r>
              <a:endParaRPr lang="en-US" sz="135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048747" y="3322886"/>
              <a:ext cx="2599134" cy="226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750"/>
                </a:lnSpc>
                <a:buNone/>
              </a:pPr>
              <a:r>
                <a:rPr lang="en-US" sz="1100" dirty="0">
                  <a:solidFill>
                    <a:srgbClr val="5B5F71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Seconds</a:t>
              </a:r>
              <a:endParaRPr lang="en-US" sz="1100" dirty="0"/>
            </a:p>
          </p:txBody>
        </p:sp>
        <p:sp>
          <p:nvSpPr>
            <p:cNvPr id="23" name="Text 3">
              <a:extLst>
                <a:ext uri="{FF2B5EF4-FFF2-40B4-BE49-F238E27FC236}">
                  <a16:creationId xmlns:a16="http://schemas.microsoft.com/office/drawing/2014/main" id="{00CB499A-8384-69B2-F59D-EAEBDEDB641F}"/>
                </a:ext>
              </a:extLst>
            </p:cNvPr>
            <p:cNvSpPr/>
            <p:nvPr/>
          </p:nvSpPr>
          <p:spPr>
            <a:xfrm>
              <a:off x="496119" y="2376935"/>
              <a:ext cx="2599134" cy="4677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3650"/>
                </a:lnSpc>
                <a:buNone/>
              </a:pPr>
              <a:r>
                <a:rPr lang="en-US" sz="3650" dirty="0">
                  <a:solidFill>
                    <a:srgbClr val="5B5F71"/>
                  </a:solidFill>
                  <a:latin typeface="Instrument Sans Semi Bold" pitchFamily="34" charset="0"/>
                  <a:ea typeface="Instrument Sans Semi Bold" pitchFamily="34" charset="-122"/>
                  <a:cs typeface="Instrument Sans Semi Bold" pitchFamily="34" charset="-120"/>
                </a:rPr>
                <a:t>2.071</a:t>
              </a:r>
              <a:endParaRPr lang="en-US" sz="3650" dirty="0"/>
            </a:p>
          </p:txBody>
        </p:sp>
        <p:sp>
          <p:nvSpPr>
            <p:cNvPr id="24" name="Text 4">
              <a:extLst>
                <a:ext uri="{FF2B5EF4-FFF2-40B4-BE49-F238E27FC236}">
                  <a16:creationId xmlns:a16="http://schemas.microsoft.com/office/drawing/2014/main" id="{92CBC7A4-5653-2056-716E-9618404DBAE4}"/>
                </a:ext>
              </a:extLst>
            </p:cNvPr>
            <p:cNvSpPr/>
            <p:nvPr/>
          </p:nvSpPr>
          <p:spPr>
            <a:xfrm>
              <a:off x="909637" y="3021807"/>
              <a:ext cx="1772022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700"/>
                </a:lnSpc>
                <a:buNone/>
              </a:pPr>
              <a:r>
                <a:rPr lang="en-US" sz="1350" dirty="0">
                  <a:solidFill>
                    <a:srgbClr val="5B5F71"/>
                  </a:solidFill>
                  <a:latin typeface="Instrument Sans Semi Bold" pitchFamily="34" charset="0"/>
                  <a:ea typeface="Instrument Sans Semi Bold" pitchFamily="34" charset="-122"/>
                  <a:cs typeface="Instrument Sans Semi Bold" pitchFamily="34" charset="-120"/>
                </a:rPr>
                <a:t>P1000</a:t>
              </a:r>
              <a:endParaRPr lang="en-US" sz="1350" dirty="0"/>
            </a:p>
          </p:txBody>
        </p:sp>
        <p:sp>
          <p:nvSpPr>
            <p:cNvPr id="25" name="Text 5">
              <a:extLst>
                <a:ext uri="{FF2B5EF4-FFF2-40B4-BE49-F238E27FC236}">
                  <a16:creationId xmlns:a16="http://schemas.microsoft.com/office/drawing/2014/main" id="{7524A1A1-E64C-204E-203C-573B602FFD84}"/>
                </a:ext>
              </a:extLst>
            </p:cNvPr>
            <p:cNvSpPr/>
            <p:nvPr/>
          </p:nvSpPr>
          <p:spPr>
            <a:xfrm>
              <a:off x="496119" y="3328319"/>
              <a:ext cx="2599134" cy="226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750"/>
                </a:lnSpc>
                <a:buNone/>
              </a:pPr>
              <a:r>
                <a:rPr lang="en-US" sz="1100" dirty="0">
                  <a:solidFill>
                    <a:srgbClr val="5B5F71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Seconds</a:t>
              </a:r>
              <a:endParaRPr lang="en-US" sz="1100" dirty="0"/>
            </a:p>
          </p:txBody>
        </p:sp>
        <p:sp>
          <p:nvSpPr>
            <p:cNvPr id="26" name="Text 6">
              <a:extLst>
                <a:ext uri="{FF2B5EF4-FFF2-40B4-BE49-F238E27FC236}">
                  <a16:creationId xmlns:a16="http://schemas.microsoft.com/office/drawing/2014/main" id="{543C0F8D-82B0-2539-58EE-B28D9F1A9F87}"/>
                </a:ext>
              </a:extLst>
            </p:cNvPr>
            <p:cNvSpPr/>
            <p:nvPr/>
          </p:nvSpPr>
          <p:spPr>
            <a:xfrm>
              <a:off x="3272433" y="2376935"/>
              <a:ext cx="2599134" cy="4677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3650"/>
                </a:lnSpc>
                <a:buNone/>
              </a:pPr>
              <a:r>
                <a:rPr lang="en-US" sz="3650" dirty="0">
                  <a:solidFill>
                    <a:srgbClr val="5B5F71"/>
                  </a:solidFill>
                  <a:latin typeface="Instrument Sans Semi Bold" pitchFamily="34" charset="0"/>
                  <a:ea typeface="Instrument Sans Semi Bold" pitchFamily="34" charset="-122"/>
                  <a:cs typeface="Instrument Sans Semi Bold" pitchFamily="34" charset="-120"/>
                </a:rPr>
                <a:t>0.573</a:t>
              </a:r>
              <a:endParaRPr lang="en-US" sz="3650" dirty="0"/>
            </a:p>
          </p:txBody>
        </p:sp>
        <p:sp>
          <p:nvSpPr>
            <p:cNvPr id="27" name="Text 7">
              <a:extLst>
                <a:ext uri="{FF2B5EF4-FFF2-40B4-BE49-F238E27FC236}">
                  <a16:creationId xmlns:a16="http://schemas.microsoft.com/office/drawing/2014/main" id="{70A79F94-5EF9-7F3A-6C71-0344921581FC}"/>
                </a:ext>
              </a:extLst>
            </p:cNvPr>
            <p:cNvSpPr/>
            <p:nvPr/>
          </p:nvSpPr>
          <p:spPr>
            <a:xfrm>
              <a:off x="3685952" y="3021807"/>
              <a:ext cx="1772022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700"/>
                </a:lnSpc>
                <a:buNone/>
              </a:pPr>
              <a:r>
                <a:rPr lang="en-US" sz="1350" dirty="0">
                  <a:solidFill>
                    <a:srgbClr val="5B5F71"/>
                  </a:solidFill>
                  <a:latin typeface="Instrument Sans Semi Bold" pitchFamily="34" charset="0"/>
                  <a:ea typeface="Instrument Sans Semi Bold" pitchFamily="34" charset="-122"/>
                  <a:cs typeface="Instrument Sans Semi Bold" pitchFamily="34" charset="-120"/>
                </a:rPr>
                <a:t>RTX3000</a:t>
              </a:r>
              <a:endParaRPr lang="en-US" sz="1350" dirty="0"/>
            </a:p>
          </p:txBody>
        </p:sp>
        <p:sp>
          <p:nvSpPr>
            <p:cNvPr id="28" name="Text 8">
              <a:extLst>
                <a:ext uri="{FF2B5EF4-FFF2-40B4-BE49-F238E27FC236}">
                  <a16:creationId xmlns:a16="http://schemas.microsoft.com/office/drawing/2014/main" id="{15EB4663-E96D-60CF-30A6-3EB2EECFB6F4}"/>
                </a:ext>
              </a:extLst>
            </p:cNvPr>
            <p:cNvSpPr/>
            <p:nvPr/>
          </p:nvSpPr>
          <p:spPr>
            <a:xfrm>
              <a:off x="3272433" y="3328319"/>
              <a:ext cx="2599134" cy="226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750"/>
                </a:lnSpc>
                <a:buNone/>
              </a:pPr>
              <a:r>
                <a:rPr lang="en-US" sz="1100" dirty="0">
                  <a:solidFill>
                    <a:srgbClr val="5B5F71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Seconds</a:t>
              </a:r>
              <a:endParaRPr lang="en-US" sz="1100" dirty="0"/>
            </a:p>
          </p:txBody>
        </p:sp>
        <p:sp>
          <p:nvSpPr>
            <p:cNvPr id="29" name="Text 9">
              <a:extLst>
                <a:ext uri="{FF2B5EF4-FFF2-40B4-BE49-F238E27FC236}">
                  <a16:creationId xmlns:a16="http://schemas.microsoft.com/office/drawing/2014/main" id="{19F8AA6A-6513-DD4E-2800-4B35DBB6EFCA}"/>
                </a:ext>
              </a:extLst>
            </p:cNvPr>
            <p:cNvSpPr/>
            <p:nvPr/>
          </p:nvSpPr>
          <p:spPr>
            <a:xfrm>
              <a:off x="6048746" y="2376935"/>
              <a:ext cx="2599134" cy="4677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3650"/>
                </a:lnSpc>
                <a:buNone/>
              </a:pPr>
              <a:endParaRPr lang="en-US" sz="3650" dirty="0"/>
            </a:p>
          </p:txBody>
        </p:sp>
        <p:sp>
          <p:nvSpPr>
            <p:cNvPr id="30" name="Text 10">
              <a:extLst>
                <a:ext uri="{FF2B5EF4-FFF2-40B4-BE49-F238E27FC236}">
                  <a16:creationId xmlns:a16="http://schemas.microsoft.com/office/drawing/2014/main" id="{AD4A95E6-B50B-188C-B7AC-22FFD19B83C9}"/>
                </a:ext>
              </a:extLst>
            </p:cNvPr>
            <p:cNvSpPr/>
            <p:nvPr/>
          </p:nvSpPr>
          <p:spPr>
            <a:xfrm>
              <a:off x="6462266" y="3021807"/>
              <a:ext cx="1772022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700"/>
                </a:lnSpc>
                <a:buNone/>
              </a:pPr>
              <a:r>
                <a:rPr lang="en-US" sz="1350" dirty="0">
                  <a:solidFill>
                    <a:srgbClr val="5B5F71"/>
                  </a:solidFill>
                  <a:latin typeface="Instrument Sans Semi Bold" pitchFamily="34" charset="0"/>
                  <a:ea typeface="Instrument Sans Semi Bold" pitchFamily="34" charset="-122"/>
                  <a:cs typeface="Instrument Sans Semi Bold" pitchFamily="34" charset="-120"/>
                </a:rPr>
                <a:t>RTXA5000</a:t>
              </a:r>
              <a:endParaRPr lang="en-US" sz="1350" dirty="0"/>
            </a:p>
          </p:txBody>
        </p:sp>
        <p:sp>
          <p:nvSpPr>
            <p:cNvPr id="31" name="Text 11">
              <a:extLst>
                <a:ext uri="{FF2B5EF4-FFF2-40B4-BE49-F238E27FC236}">
                  <a16:creationId xmlns:a16="http://schemas.microsoft.com/office/drawing/2014/main" id="{79DBB886-7F6F-7CC0-2FD9-3B244F0C403D}"/>
                </a:ext>
              </a:extLst>
            </p:cNvPr>
            <p:cNvSpPr/>
            <p:nvPr/>
          </p:nvSpPr>
          <p:spPr>
            <a:xfrm>
              <a:off x="6048747" y="3328319"/>
              <a:ext cx="2599134" cy="226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750"/>
                </a:lnSpc>
                <a:buNone/>
              </a:pPr>
              <a:r>
                <a:rPr lang="en-US" sz="1100" dirty="0">
                  <a:solidFill>
                    <a:srgbClr val="5B5F71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Seconds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878610" y="468064"/>
            <a:ext cx="3211860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Conclusion</a:t>
            </a:r>
            <a:endParaRPr lang="en-US" sz="2500" dirty="0"/>
          </a:p>
        </p:txBody>
      </p:sp>
      <p:sp>
        <p:nvSpPr>
          <p:cNvPr id="6" name="Text 2"/>
          <p:cNvSpPr/>
          <p:nvPr/>
        </p:nvSpPr>
        <p:spPr>
          <a:xfrm>
            <a:off x="3878610" y="1044104"/>
            <a:ext cx="481578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CUDA streams can improve throughput by overlapping memory transfer and computation.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3878610" y="1566937"/>
            <a:ext cx="2349698" cy="1234604"/>
          </a:xfrm>
          <a:prstGeom prst="roundRect">
            <a:avLst>
              <a:gd name="adj" fmla="val 4371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1811" y="1700138"/>
            <a:ext cx="385390" cy="38539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17777" y="1806104"/>
            <a:ext cx="173385" cy="17338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011811" y="2201912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Runtime improved</a:t>
            </a:r>
            <a:endParaRPr lang="en-US" sz="1250" dirty="0"/>
          </a:p>
        </p:txBody>
      </p:sp>
      <p:sp>
        <p:nvSpPr>
          <p:cNvPr id="11" name="Text 5"/>
          <p:cNvSpPr/>
          <p:nvPr/>
        </p:nvSpPr>
        <p:spPr>
          <a:xfrm>
            <a:off x="4011811" y="2472407"/>
            <a:ext cx="208329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Add-matrices benefited clearly</a:t>
            </a:r>
            <a:endParaRPr lang="en-US" sz="1000" dirty="0"/>
          </a:p>
        </p:txBody>
      </p:sp>
      <p:sp>
        <p:nvSpPr>
          <p:cNvPr id="12" name="Shape 6"/>
          <p:cNvSpPr/>
          <p:nvPr/>
        </p:nvSpPr>
        <p:spPr>
          <a:xfrm>
            <a:off x="6344692" y="1566937"/>
            <a:ext cx="2349698" cy="1234604"/>
          </a:xfrm>
          <a:prstGeom prst="roundRect">
            <a:avLst>
              <a:gd name="adj" fmla="val 4371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893" y="1700138"/>
            <a:ext cx="385390" cy="385390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83859" y="1806104"/>
            <a:ext cx="173385" cy="17338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477893" y="2201912"/>
            <a:ext cx="177432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Profiler showed overlap</a:t>
            </a:r>
            <a:endParaRPr lang="en-US" sz="1250" dirty="0"/>
          </a:p>
        </p:txBody>
      </p:sp>
      <p:sp>
        <p:nvSpPr>
          <p:cNvPr id="16" name="Text 8"/>
          <p:cNvSpPr/>
          <p:nvPr/>
        </p:nvSpPr>
        <p:spPr>
          <a:xfrm>
            <a:off x="6477893" y="2472407"/>
            <a:ext cx="208329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Visual proof in Nsight Systems</a:t>
            </a:r>
            <a:endParaRPr lang="en-US" sz="1000" dirty="0"/>
          </a:p>
        </p:txBody>
      </p:sp>
      <p:sp>
        <p:nvSpPr>
          <p:cNvPr id="17" name="Shape 9"/>
          <p:cNvSpPr/>
          <p:nvPr/>
        </p:nvSpPr>
        <p:spPr>
          <a:xfrm>
            <a:off x="3878610" y="2917924"/>
            <a:ext cx="4815780" cy="1234604"/>
          </a:xfrm>
          <a:prstGeom prst="roundRect">
            <a:avLst>
              <a:gd name="adj" fmla="val 4371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1811" y="3051125"/>
            <a:ext cx="385390" cy="385390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17777" y="3157091"/>
            <a:ext cx="173385" cy="173385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4011811" y="3552899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Real workloads vary</a:t>
            </a:r>
            <a:endParaRPr lang="en-US" sz="1250" dirty="0"/>
          </a:p>
        </p:txBody>
      </p:sp>
      <p:sp>
        <p:nvSpPr>
          <p:cNvPr id="21" name="Text 11"/>
          <p:cNvSpPr/>
          <p:nvPr/>
        </p:nvSpPr>
        <p:spPr>
          <a:xfrm>
            <a:off x="4011811" y="3823395"/>
            <a:ext cx="454937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Hardware and problem-dependent</a:t>
            </a:r>
            <a:endParaRPr lang="en-US" sz="1000" dirty="0"/>
          </a:p>
        </p:txBody>
      </p:sp>
      <p:sp>
        <p:nvSpPr>
          <p:cNvPr id="22" name="Text 12"/>
          <p:cNvSpPr/>
          <p:nvPr/>
        </p:nvSpPr>
        <p:spPr>
          <a:xfrm>
            <a:off x="3878610" y="4283497"/>
            <a:ext cx="481578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Final takeaway:</a:t>
            </a: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Asynchronous execution is a performance tool, not a guarantee. </a:t>
            </a:r>
            <a:endParaRPr lang="en-US" sz="10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AA55BE2-D4A8-EFA2-8375-DD09D1E8935A}"/>
              </a:ext>
            </a:extLst>
          </p:cNvPr>
          <p:cNvSpPr/>
          <p:nvPr/>
        </p:nvSpPr>
        <p:spPr>
          <a:xfrm>
            <a:off x="7907131" y="4822255"/>
            <a:ext cx="1192695" cy="2709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80186-E753-6318-D513-B17F22A29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E73F089-46B4-D80F-E1FF-96045DB8FE02}"/>
              </a:ext>
            </a:extLst>
          </p:cNvPr>
          <p:cNvSpPr/>
          <p:nvPr/>
        </p:nvSpPr>
        <p:spPr>
          <a:xfrm>
            <a:off x="679591" y="579711"/>
            <a:ext cx="722754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 Bold" pitchFamily="34" charset="0"/>
              </a:rPr>
              <a:t>Works Cited</a:t>
            </a:r>
            <a:endParaRPr lang="en-US" sz="27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68D350E-1A88-08AE-0107-B77677CEBA14}"/>
              </a:ext>
            </a:extLst>
          </p:cNvPr>
          <p:cNvSpPr/>
          <p:nvPr/>
        </p:nvSpPr>
        <p:spPr>
          <a:xfrm>
            <a:off x="774414" y="1333879"/>
            <a:ext cx="8151763" cy="3105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latin typeface="Instrument Sans Medium" panose="020B0604020202020204" charset="0"/>
              </a:rPr>
              <a:t>[1] NVIDIA, “CUDA C++ Programming Guide: Asynchronous Execution.”</a:t>
            </a:r>
            <a:br>
              <a:rPr lang="en-US" sz="1100" dirty="0">
                <a:latin typeface="Instrument Sans Medium" panose="020B0604020202020204" charset="0"/>
              </a:rPr>
            </a:br>
            <a:r>
              <a:rPr lang="en-US" sz="1100" dirty="0">
                <a:latin typeface="Instrument Sans Medium" panose="020B0604020202020204" charset="0"/>
                <a:hlinkClick r:id="rId3"/>
              </a:rPr>
              <a:t>docs.nvidia.com</a:t>
            </a:r>
            <a:endParaRPr lang="en-US" sz="1100" dirty="0">
              <a:latin typeface="Instrument Sans Medium" panose="020B0604020202020204" charset="0"/>
            </a:endParaRPr>
          </a:p>
          <a:p>
            <a:endParaRPr lang="en-US" sz="1100" dirty="0">
              <a:latin typeface="Instrument Sans Medium" panose="020B0604020202020204" charset="0"/>
            </a:endParaRPr>
          </a:p>
          <a:p>
            <a:r>
              <a:rPr lang="en-US" sz="1100" dirty="0">
                <a:latin typeface="Instrument Sans Medium" panose="020B0604020202020204" charset="0"/>
              </a:rPr>
              <a:t>[2] NVIDIA, “CUDA C++ Programming Guide.”</a:t>
            </a:r>
            <a:br>
              <a:rPr lang="en-US" sz="1100" dirty="0">
                <a:latin typeface="Instrument Sans Medium" panose="020B0604020202020204" charset="0"/>
              </a:rPr>
            </a:br>
            <a:r>
              <a:rPr lang="en-US" sz="1100" dirty="0">
                <a:latin typeface="Instrument Sans Medium" panose="020B0604020202020204" charset="0"/>
                <a:hlinkClick r:id="rId4"/>
              </a:rPr>
              <a:t>docs.nvidia.com</a:t>
            </a:r>
            <a:endParaRPr lang="en-US" sz="1100" dirty="0">
              <a:latin typeface="Instrument Sans Medium" panose="020B0604020202020204" charset="0"/>
            </a:endParaRPr>
          </a:p>
          <a:p>
            <a:endParaRPr lang="en-US" sz="1100" dirty="0">
              <a:latin typeface="Instrument Sans Medium" panose="020B0604020202020204" charset="0"/>
            </a:endParaRPr>
          </a:p>
          <a:p>
            <a:r>
              <a:rPr lang="en-US" sz="1100" dirty="0">
                <a:latin typeface="Instrument Sans Medium" panose="020B0604020202020204" charset="0"/>
              </a:rPr>
              <a:t>[3] Lei Mao, “CUDA Streams Guide.”</a:t>
            </a:r>
            <a:br>
              <a:rPr lang="en-US" sz="1100" dirty="0">
                <a:latin typeface="Instrument Sans Medium" panose="020B0604020202020204" charset="0"/>
              </a:rPr>
            </a:br>
            <a:r>
              <a:rPr lang="en-US" sz="1100" dirty="0">
                <a:latin typeface="Instrument Sans Medium" panose="020B0604020202020204" charset="0"/>
                <a:hlinkClick r:id="rId5"/>
              </a:rPr>
              <a:t>leimao.github.io</a:t>
            </a:r>
            <a:endParaRPr lang="en-US" sz="1100" dirty="0">
              <a:latin typeface="Instrument Sans Medium" panose="020B0604020202020204" charset="0"/>
            </a:endParaRPr>
          </a:p>
          <a:p>
            <a:endParaRPr lang="en-US" sz="1100" dirty="0">
              <a:latin typeface="Instrument Sans Medium" panose="020B0604020202020204" charset="0"/>
            </a:endParaRPr>
          </a:p>
          <a:p>
            <a:r>
              <a:rPr lang="en-US" sz="1100" dirty="0">
                <a:latin typeface="Instrument Sans Medium" panose="020B0604020202020204" charset="0"/>
              </a:rPr>
              <a:t>[4] NVIDIA Developer Blog Images.</a:t>
            </a:r>
            <a:br>
              <a:rPr lang="en-US" sz="1100" dirty="0">
                <a:latin typeface="Instrument Sans Medium" panose="020B0604020202020204" charset="0"/>
              </a:rPr>
            </a:br>
            <a:r>
              <a:rPr lang="en-US" sz="1100" dirty="0">
                <a:latin typeface="Instrument Sans Medium" panose="020B0604020202020204" charset="0"/>
                <a:hlinkClick r:id="rId6"/>
              </a:rPr>
              <a:t>developer.nvidia.com</a:t>
            </a:r>
            <a:endParaRPr lang="en-US" sz="1100" dirty="0">
              <a:latin typeface="Instrument Sans Medium" panose="020B0604020202020204" charset="0"/>
            </a:endParaRPr>
          </a:p>
          <a:p>
            <a:endParaRPr lang="en-US" sz="1100" dirty="0">
              <a:latin typeface="Instrument Sans Medium" panose="020B0604020202020204" charset="0"/>
            </a:endParaRPr>
          </a:p>
          <a:p>
            <a:r>
              <a:rPr lang="en-US" sz="1100" dirty="0">
                <a:latin typeface="Instrument Sans Medium" panose="020B0604020202020204" charset="0"/>
              </a:rPr>
              <a:t>[5] NVIDIA GPU Computing Image.</a:t>
            </a:r>
            <a:br>
              <a:rPr lang="en-US" sz="1100" dirty="0">
                <a:latin typeface="Instrument Sans Medium" panose="020B0604020202020204" charset="0"/>
              </a:rPr>
            </a:br>
            <a:r>
              <a:rPr lang="en-US" sz="1100" dirty="0">
                <a:latin typeface="Instrument Sans Medium" panose="020B0604020202020204" charset="0"/>
                <a:hlinkClick r:id="rId7"/>
              </a:rPr>
              <a:t>developer.nvidia.com</a:t>
            </a:r>
            <a:endParaRPr lang="en-US" sz="1100" dirty="0">
              <a:latin typeface="Instrument Sans Medium" panose="020B0604020202020204" charset="0"/>
            </a:endParaRPr>
          </a:p>
          <a:p>
            <a:endParaRPr lang="en-US" sz="1100" dirty="0">
              <a:latin typeface="Instrument Sans Medium" panose="020B0604020202020204" charset="0"/>
            </a:endParaRPr>
          </a:p>
          <a:p>
            <a:r>
              <a:rPr lang="en-US" sz="1100" dirty="0">
                <a:latin typeface="Instrument Sans Medium" panose="020B0604020202020204" charset="0"/>
              </a:rPr>
              <a:t>[6] Jaechang Lee, “CPS343 Final Project Repository.”</a:t>
            </a:r>
            <a:br>
              <a:rPr lang="en-US" sz="1100" dirty="0">
                <a:latin typeface="Instrument Sans Medium" panose="020B0604020202020204" charset="0"/>
              </a:rPr>
            </a:br>
            <a:r>
              <a:rPr lang="en-US" sz="1100" dirty="0">
                <a:latin typeface="Instrument Sans Medium" panose="020B0604020202020204" charset="0"/>
                <a:hlinkClick r:id="rId8"/>
              </a:rPr>
              <a:t>GitHub Repository</a:t>
            </a:r>
            <a:endParaRPr lang="en-US" sz="1100" dirty="0">
              <a:latin typeface="Instrument Sans Medium" panose="020B0604020202020204" charset="0"/>
            </a:endParaRPr>
          </a:p>
          <a:p>
            <a:endParaRPr lang="en-US" sz="1100" dirty="0">
              <a:latin typeface="Instrument Sans Medium" panose="020B0604020202020204" charset="0"/>
            </a:endParaRPr>
          </a:p>
          <a:p>
            <a:r>
              <a:rPr lang="en-US" sz="1100" dirty="0">
                <a:latin typeface="Instrument Sans Medium" panose="020B0604020202020204" charset="0"/>
              </a:rPr>
              <a:t>[7] CUDA benchmark data, Nsight Systems profiler results, and experimental implementations from course project files.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424FEF-6D60-9DE5-A467-DB8BCF090A8C}"/>
              </a:ext>
            </a:extLst>
          </p:cNvPr>
          <p:cNvSpPr/>
          <p:nvPr/>
        </p:nvSpPr>
        <p:spPr>
          <a:xfrm>
            <a:off x="7907131" y="4822255"/>
            <a:ext cx="1192695" cy="2709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268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1042</TotalTime>
  <Words>666</Words>
  <Application>Microsoft Office PowerPoint</Application>
  <PresentationFormat>On-screen Show (16:9)</PresentationFormat>
  <Paragraphs>144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Instrument Sans Semi Bold</vt:lpstr>
      <vt:lpstr>Instrument Sans Medium</vt:lpstr>
      <vt:lpstr>Consolas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Jaechang Lee</cp:lastModifiedBy>
  <cp:revision>4</cp:revision>
  <dcterms:created xsi:type="dcterms:W3CDTF">2026-05-09T00:29:39Z</dcterms:created>
  <dcterms:modified xsi:type="dcterms:W3CDTF">2026-05-09T18:17:44Z</dcterms:modified>
</cp:coreProperties>
</file>